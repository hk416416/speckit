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650" r:id="rId3"/>
    <p:sldId id="651" r:id="rId4"/>
    <p:sldId id="652" r:id="rId5"/>
    <p:sldId id="653" r:id="rId6"/>
    <p:sldId id="369" r:id="rId7"/>
    <p:sldId id="370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5" d="100"/>
          <a:sy n="105" d="100"/>
        </p:scale>
        <p:origin x="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9F582-A007-9651-5BBC-A3D7AD6C1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E719A0-E87F-8787-183C-D7A8DC3B7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85466B-5062-74FA-E10B-AB6ED9184AD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24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2F465-2F8E-D163-653D-D9C1E6B7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89802D-E968-430F-5623-A23BD576A0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486A1F-2DE4-A2EC-154B-1133F7CFE8A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1103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CD19-7695-BB0F-2688-B927F5F2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605D2E-BFCA-E39A-AD6B-B72935FCBF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F3BD0D-EB63-AC44-B86F-2D11F2B40E4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2042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F0C5-539A-6691-ED6E-7E005E3E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B08AC5-817C-3C38-3D0D-33E173A5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13A712-3B7A-FB78-5B73-A82D964A3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="1" dirty="0"/>
              <a:t>特性这些是必做的，其余特性可以在</a:t>
            </a:r>
            <a:r>
              <a:rPr kumimoji="1" lang="en-US" altLang="zh-CN" b="1" dirty="0" err="1"/>
              <a:t>vllm</a:t>
            </a:r>
            <a:r>
              <a:rPr kumimoji="1" lang="zh-CN" altLang="en-US" b="1" dirty="0"/>
              <a:t>官方文档查看，感兴趣自行进行</a:t>
            </a:r>
            <a:endParaRPr kumimoji="1" lang="en-US" altLang="zh-CN" b="1" dirty="0"/>
          </a:p>
          <a:p>
            <a:endParaRPr kumimoji="1" lang="en-US" altLang="zh-CN" b="1" dirty="0"/>
          </a:p>
          <a:p>
            <a:r>
              <a:rPr kumimoji="1" lang="zh-CN" altLang="en-US" b="1" dirty="0"/>
              <a:t>汇报：</a:t>
            </a:r>
            <a:endParaRPr kumimoji="1" lang="en-US" altLang="zh-CN" b="1" dirty="0"/>
          </a:p>
          <a:p>
            <a:r>
              <a:rPr kumimoji="1" lang="en-US" altLang="zh-CN" b="1" dirty="0"/>
              <a:t>1</a:t>
            </a:r>
            <a:r>
              <a:rPr kumimoji="1" lang="zh-CN" altLang="en-US" b="1" dirty="0"/>
              <a:t>、环境配置：用的什么卡？ </a:t>
            </a:r>
            <a:r>
              <a:rPr kumimoji="1" lang="en-US" altLang="zh-CN" b="1" dirty="0" err="1"/>
              <a:t>Vllm</a:t>
            </a:r>
            <a:r>
              <a:rPr kumimoji="1" lang="zh-CN" altLang="en-US" b="1" dirty="0"/>
              <a:t>版本是多少？</a:t>
            </a:r>
            <a:endParaRPr kumimoji="1" lang="en-US" altLang="zh-CN" b="1" dirty="0"/>
          </a:p>
          <a:p>
            <a:r>
              <a:rPr kumimoji="1" lang="en-US" altLang="zh-CN" b="1" dirty="0"/>
              <a:t>2</a:t>
            </a:r>
            <a:r>
              <a:rPr kumimoji="1" lang="zh-CN" altLang="en-US" b="1" dirty="0"/>
              <a:t>、实验是如何设计的？基线是什么？ 数据集选的什么？  </a:t>
            </a:r>
            <a:endParaRPr kumimoji="1" lang="en-US" altLang="zh-CN" b="1" dirty="0"/>
          </a:p>
          <a:p>
            <a:r>
              <a:rPr kumimoji="1" lang="en-US" altLang="zh-CN" b="1" dirty="0"/>
              <a:t>2</a:t>
            </a:r>
            <a:r>
              <a:rPr kumimoji="1" lang="zh-CN" altLang="en-US" b="1" dirty="0"/>
              <a:t>、特性与指标之间是什么关系，哪些特性影响哪些指标？</a:t>
            </a:r>
          </a:p>
          <a:p>
            <a:endParaRPr kumimoji="1"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870DE1-9042-DD0C-050E-56331DF0C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8D16C-40B3-4798-96C8-0BEDFD7BA2C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658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9897-6A76-1642-D203-0BCC31FD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F91CB0-A412-E945-787A-FB5C701B4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422D1F-80F0-87AB-B07D-3D7786861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7B722-CC45-8E86-1D4F-C6132542E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8D16C-40B3-4798-96C8-0BEDFD7BA2C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358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5DD6E-B215-4375-B58C-5A104220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29" y="543748"/>
            <a:ext cx="3417916" cy="52220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1.X 选题背景及意义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4A8641-1FDF-4D1B-A835-B95A7727C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28" y="1429795"/>
            <a:ext cx="10110739" cy="474716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AF93FE-8CF7-4B5C-A3EC-730FC001D5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95D9F4-C18F-4FFE-AC4C-6C8C52FE29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066415" y="6344234"/>
            <a:ext cx="2743200" cy="365125"/>
          </a:xfrm>
          <a:prstGeom prst="rect">
            <a:avLst/>
          </a:prstGeom>
        </p:spPr>
        <p:txBody>
          <a:bodyPr/>
          <a:lstStyle/>
          <a:p>
            <a:fld id="{5BAC8A70-98D4-4148-A132-2992A31F5BBA}" type="slidenum">
              <a:t>‹#›</a:t>
            </a:fld>
            <a:endParaRPr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F14CA426-DEE5-4ED8-AD46-7B3D87DF0F5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647116" y="299498"/>
            <a:ext cx="1576646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 u="none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研究背景</a:t>
            </a:r>
          </a:p>
        </p:txBody>
      </p: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C875F773-4EE4-4F7E-9AB5-A188F4116A1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23762" y="299315"/>
            <a:ext cx="950421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问题建模</a:t>
            </a:r>
          </a:p>
        </p:txBody>
      </p:sp>
      <p:sp>
        <p:nvSpPr>
          <p:cNvPr id="10" name="内容占位符 7">
            <a:extLst>
              <a:ext uri="{FF2B5EF4-FFF2-40B4-BE49-F238E27FC236}">
                <a16:creationId xmlns:a16="http://schemas.microsoft.com/office/drawing/2014/main" id="{80783700-5F6B-4A9D-981A-C989DC49DC5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194965" y="298918"/>
            <a:ext cx="947649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研究结果</a:t>
            </a:r>
          </a:p>
        </p:txBody>
      </p:sp>
      <p:sp>
        <p:nvSpPr>
          <p:cNvPr id="11" name="内容占位符 7">
            <a:extLst>
              <a:ext uri="{FF2B5EF4-FFF2-40B4-BE49-F238E27FC236}">
                <a16:creationId xmlns:a16="http://schemas.microsoft.com/office/drawing/2014/main" id="{66E83B3C-B265-41BF-A1C4-B743692B51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163396" y="298919"/>
            <a:ext cx="1227515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讨论</a:t>
            </a:r>
          </a:p>
        </p:txBody>
      </p:sp>
      <p:sp>
        <p:nvSpPr>
          <p:cNvPr id="12" name="内容占位符 7">
            <a:extLst>
              <a:ext uri="{FF2B5EF4-FFF2-40B4-BE49-F238E27FC236}">
                <a16:creationId xmlns:a16="http://schemas.microsoft.com/office/drawing/2014/main" id="{9D970D75-191D-4D51-A34B-4CD6B178EF1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0390911" y="298890"/>
            <a:ext cx="962889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参考文献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2C8A7-A619-4ED6-8A1B-211EFDA92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6FFF6A-0017-4412-BD68-60ADF3A21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28" y="1436914"/>
            <a:ext cx="5327072" cy="4740049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EBF4EF-D895-4D92-936C-4711E3D4D78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56866" y="1436914"/>
            <a:ext cx="5096933" cy="4740049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9C0E87-3F85-465F-AEFB-C60D359A102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C87464-0C16-4BA5-8540-464E923620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066415" y="6344234"/>
            <a:ext cx="2743200" cy="365125"/>
          </a:xfrm>
          <a:prstGeom prst="rect">
            <a:avLst/>
          </a:prstGeom>
        </p:spPr>
        <p:txBody>
          <a:bodyPr/>
          <a:lstStyle/>
          <a:p>
            <a:fld id="{5BAC8A70-98D4-4148-A132-2992A31F5BBA}" type="slidenum">
              <a:t>‹#›</a:t>
            </a:fld>
            <a:endParaRPr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B5D6751F-8A03-4C35-9568-75C9B87F80F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647116" y="299498"/>
            <a:ext cx="1576646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 u="none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研究背景</a:t>
            </a:r>
          </a:p>
        </p:txBody>
      </p: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AC5F2373-1869-461B-A446-F363889CE6F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23762" y="299315"/>
            <a:ext cx="950421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研究方法</a:t>
            </a:r>
          </a:p>
        </p:txBody>
      </p:sp>
      <p:sp>
        <p:nvSpPr>
          <p:cNvPr id="10" name="内容占位符 7">
            <a:extLst>
              <a:ext uri="{FF2B5EF4-FFF2-40B4-BE49-F238E27FC236}">
                <a16:creationId xmlns:a16="http://schemas.microsoft.com/office/drawing/2014/main" id="{D432CA8B-BC83-4307-A907-8A7142BBDB3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194965" y="298918"/>
            <a:ext cx="947649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研究结果</a:t>
            </a:r>
          </a:p>
        </p:txBody>
      </p:sp>
      <p:sp>
        <p:nvSpPr>
          <p:cNvPr id="11" name="内容占位符 7">
            <a:extLst>
              <a:ext uri="{FF2B5EF4-FFF2-40B4-BE49-F238E27FC236}">
                <a16:creationId xmlns:a16="http://schemas.microsoft.com/office/drawing/2014/main" id="{14CDFDAE-0C02-41F6-8E17-0F060BF5F36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163396" y="298919"/>
            <a:ext cx="1227515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讨论</a:t>
            </a:r>
          </a:p>
        </p:txBody>
      </p:sp>
      <p:sp>
        <p:nvSpPr>
          <p:cNvPr id="12" name="内容占位符 7">
            <a:extLst>
              <a:ext uri="{FF2B5EF4-FFF2-40B4-BE49-F238E27FC236}">
                <a16:creationId xmlns:a16="http://schemas.microsoft.com/office/drawing/2014/main" id="{DF9EF0E9-F1CA-4079-9270-97AD02A9349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0390911" y="298890"/>
            <a:ext cx="962889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参考文献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内容页 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52490-95F5-4835-A51D-00693381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EE1C0B-A8F5-4C6C-B129-162516C2F18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690E6C-0D3D-4322-A710-733395380B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066415" y="6344234"/>
            <a:ext cx="2743200" cy="365125"/>
          </a:xfrm>
          <a:prstGeom prst="rect">
            <a:avLst/>
          </a:prstGeom>
        </p:spPr>
        <p:txBody>
          <a:bodyPr/>
          <a:lstStyle/>
          <a:p>
            <a:fld id="{5BAC8A70-98D4-4148-A132-2992A31F5BBA}" type="slidenum">
              <a:t>‹#›</a:t>
            </a:fld>
            <a:endParaRPr/>
          </a:p>
        </p:txBody>
      </p:sp>
      <p:sp>
        <p:nvSpPr>
          <p:cNvPr id="6" name="内容占位符 7">
            <a:extLst>
              <a:ext uri="{FF2B5EF4-FFF2-40B4-BE49-F238E27FC236}">
                <a16:creationId xmlns:a16="http://schemas.microsoft.com/office/drawing/2014/main" id="{A18A773C-F774-4F47-A0F2-ED15905FF52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647116" y="299498"/>
            <a:ext cx="1576646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 u="none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研究背景</a:t>
            </a:r>
          </a:p>
        </p:txBody>
      </p:sp>
      <p:sp>
        <p:nvSpPr>
          <p:cNvPr id="7" name="内容占位符 7">
            <a:extLst>
              <a:ext uri="{FF2B5EF4-FFF2-40B4-BE49-F238E27FC236}">
                <a16:creationId xmlns:a16="http://schemas.microsoft.com/office/drawing/2014/main" id="{ADE1546F-4ED8-49BF-A3D2-63F64F9E13C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23762" y="299315"/>
            <a:ext cx="950421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研究方法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96FD7F0-B3C1-48E5-83C8-25A9CEEDB56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194965" y="298918"/>
            <a:ext cx="947649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研究结果</a:t>
            </a:r>
          </a:p>
        </p:txBody>
      </p: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8BA44486-9BE2-45FC-9671-B4C8222601B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163396" y="298919"/>
            <a:ext cx="1227515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讨论</a:t>
            </a:r>
          </a:p>
        </p:txBody>
      </p:sp>
      <p:sp>
        <p:nvSpPr>
          <p:cNvPr id="10" name="内容占位符 7">
            <a:extLst>
              <a:ext uri="{FF2B5EF4-FFF2-40B4-BE49-F238E27FC236}">
                <a16:creationId xmlns:a16="http://schemas.microsoft.com/office/drawing/2014/main" id="{F73183AE-E924-4443-BF44-21839F5297A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0390911" y="298890"/>
            <a:ext cx="962889" cy="365125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参考文献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>
            <a:extLst>
              <a:ext uri="{FF2B5EF4-FFF2-40B4-BE49-F238E27FC236}">
                <a16:creationId xmlns:a16="http://schemas.microsoft.com/office/drawing/2014/main" id="{0DCFEEDC-80C4-430C-A22F-5A0D219D722D}"/>
              </a:ext>
            </a:extLst>
          </p:cNvPr>
          <p:cNvSpPr>
            <a:spLocks noGrp="1"/>
          </p:cNvSpPr>
          <p:nvPr/>
        </p:nvSpPr>
        <p:spPr>
          <a:xfrm rot="1440000">
            <a:off x="2834005" y="2996565"/>
            <a:ext cx="623570" cy="3810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00E35B-7699-46E5-9A68-F1608DB7010F}"/>
              </a:ext>
            </a:extLst>
          </p:cNvPr>
          <p:cNvSpPr>
            <a:spLocks noGrp="1"/>
          </p:cNvSpPr>
          <p:nvPr/>
        </p:nvSpPr>
        <p:spPr>
          <a:xfrm>
            <a:off x="2949575" y="2641600"/>
            <a:ext cx="2296795" cy="3598545"/>
          </a:xfrm>
          <a:prstGeom prst="rect">
            <a:avLst/>
          </a:pr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DE9B49-5F05-4166-89BA-40F71F9A5AAC}"/>
              </a:ext>
            </a:extLst>
          </p:cNvPr>
          <p:cNvSpPr>
            <a:spLocks noGrp="1"/>
          </p:cNvSpPr>
          <p:nvPr/>
        </p:nvSpPr>
        <p:spPr>
          <a:xfrm>
            <a:off x="4890770" y="546100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EA8A21-478E-43A6-8047-D9B05F14D632}"/>
              </a:ext>
            </a:extLst>
          </p:cNvPr>
          <p:cNvSpPr>
            <a:spLocks noGrp="1"/>
          </p:cNvSpPr>
          <p:nvPr/>
        </p:nvSpPr>
        <p:spPr>
          <a:xfrm>
            <a:off x="4463415" y="546100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D20C689-5767-414D-B03C-C573B6DB40E1}"/>
              </a:ext>
            </a:extLst>
          </p:cNvPr>
          <p:cNvSpPr>
            <a:spLocks noGrp="1"/>
          </p:cNvSpPr>
          <p:nvPr/>
        </p:nvSpPr>
        <p:spPr>
          <a:xfrm>
            <a:off x="4000500" y="546100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37140E6-5C77-4EA0-8721-1CF13DC0878B}"/>
              </a:ext>
            </a:extLst>
          </p:cNvPr>
          <p:cNvSpPr>
            <a:spLocks noGrp="1"/>
          </p:cNvSpPr>
          <p:nvPr/>
        </p:nvSpPr>
        <p:spPr>
          <a:xfrm>
            <a:off x="3572510" y="546100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A346079-26B4-4892-8156-6D1207FD79FD}"/>
              </a:ext>
            </a:extLst>
          </p:cNvPr>
          <p:cNvSpPr>
            <a:spLocks noGrp="1"/>
          </p:cNvSpPr>
          <p:nvPr/>
        </p:nvSpPr>
        <p:spPr>
          <a:xfrm>
            <a:off x="3145155" y="546100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ECE901-6F2F-420E-9A7E-BF6FB9E67151}"/>
              </a:ext>
            </a:extLst>
          </p:cNvPr>
          <p:cNvSpPr>
            <a:spLocks noGrp="1"/>
          </p:cNvSpPr>
          <p:nvPr/>
        </p:nvSpPr>
        <p:spPr>
          <a:xfrm>
            <a:off x="7206615" y="4441825"/>
            <a:ext cx="1983105" cy="1798955"/>
          </a:xfrm>
          <a:prstGeom prst="rect">
            <a:avLst/>
          </a:prstGeom>
          <a:solidFill>
            <a:srgbClr val="6306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323539D5-A665-474C-98ED-625B10A89516}"/>
              </a:ext>
            </a:extLst>
          </p:cNvPr>
          <p:cNvSpPr>
            <a:spLocks noGrp="1"/>
          </p:cNvSpPr>
          <p:nvPr/>
        </p:nvSpPr>
        <p:spPr>
          <a:xfrm>
            <a:off x="7301865" y="3947160"/>
            <a:ext cx="1887855" cy="494665"/>
          </a:xfrm>
          <a:prstGeom prst="rtTriangle">
            <a:avLst/>
          </a:prstGeom>
          <a:solidFill>
            <a:srgbClr val="6306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C6B3D866-009C-448C-B248-279783B243C4}"/>
              </a:ext>
            </a:extLst>
          </p:cNvPr>
          <p:cNvSpPr>
            <a:spLocks noGrp="1"/>
          </p:cNvSpPr>
          <p:nvPr/>
        </p:nvSpPr>
        <p:spPr>
          <a:xfrm flipH="1">
            <a:off x="4156710" y="3946525"/>
            <a:ext cx="3756025" cy="2293620"/>
          </a:xfrm>
          <a:prstGeom prst="triangle">
            <a:avLst>
              <a:gd name="adj" fmla="val 16328"/>
            </a:avLst>
          </a:prstGeom>
          <a:solidFill>
            <a:srgbClr val="6306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152302-D97C-4D04-A917-75EB212F8075}"/>
              </a:ext>
            </a:extLst>
          </p:cNvPr>
          <p:cNvSpPr>
            <a:spLocks noGrp="1"/>
          </p:cNvSpPr>
          <p:nvPr/>
        </p:nvSpPr>
        <p:spPr>
          <a:xfrm>
            <a:off x="4897755" y="30391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58D322-F05D-4389-A9DF-E04A688F3D57}"/>
              </a:ext>
            </a:extLst>
          </p:cNvPr>
          <p:cNvSpPr>
            <a:spLocks noGrp="1"/>
          </p:cNvSpPr>
          <p:nvPr/>
        </p:nvSpPr>
        <p:spPr>
          <a:xfrm>
            <a:off x="4470400" y="30391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2BDFC3-17EC-42FA-A08D-54AB349FB617}"/>
              </a:ext>
            </a:extLst>
          </p:cNvPr>
          <p:cNvSpPr>
            <a:spLocks noGrp="1"/>
          </p:cNvSpPr>
          <p:nvPr/>
        </p:nvSpPr>
        <p:spPr>
          <a:xfrm>
            <a:off x="4007485" y="30391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B43D705-1FD8-4269-83FB-77D24FE583BF}"/>
              </a:ext>
            </a:extLst>
          </p:cNvPr>
          <p:cNvSpPr>
            <a:spLocks noGrp="1"/>
          </p:cNvSpPr>
          <p:nvPr/>
        </p:nvSpPr>
        <p:spPr>
          <a:xfrm>
            <a:off x="3579495" y="30391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F6B6DDE-964A-4640-B7B5-21ED5563A313}"/>
              </a:ext>
            </a:extLst>
          </p:cNvPr>
          <p:cNvSpPr>
            <a:spLocks noGrp="1"/>
          </p:cNvSpPr>
          <p:nvPr/>
        </p:nvSpPr>
        <p:spPr>
          <a:xfrm>
            <a:off x="3152140" y="30391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A751EE5-5B1E-4626-81A0-EF3C1338C196}"/>
              </a:ext>
            </a:extLst>
          </p:cNvPr>
          <p:cNvSpPr>
            <a:spLocks noGrp="1"/>
          </p:cNvSpPr>
          <p:nvPr/>
        </p:nvSpPr>
        <p:spPr>
          <a:xfrm>
            <a:off x="4897755" y="358013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5B8D9D4-EADA-4AEB-8AD1-73BC0D1925F9}"/>
              </a:ext>
            </a:extLst>
          </p:cNvPr>
          <p:cNvSpPr>
            <a:spLocks noGrp="1"/>
          </p:cNvSpPr>
          <p:nvPr/>
        </p:nvSpPr>
        <p:spPr>
          <a:xfrm>
            <a:off x="4470400" y="358013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E01C317-3E35-4548-8B5D-88E0B82F8015}"/>
              </a:ext>
            </a:extLst>
          </p:cNvPr>
          <p:cNvSpPr>
            <a:spLocks noGrp="1"/>
          </p:cNvSpPr>
          <p:nvPr/>
        </p:nvSpPr>
        <p:spPr>
          <a:xfrm>
            <a:off x="4007485" y="358013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D1DDA58-98BD-45BA-B4F2-7D160D99F8AB}"/>
              </a:ext>
            </a:extLst>
          </p:cNvPr>
          <p:cNvSpPr>
            <a:spLocks noGrp="1"/>
          </p:cNvSpPr>
          <p:nvPr/>
        </p:nvSpPr>
        <p:spPr>
          <a:xfrm>
            <a:off x="3579495" y="358013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88A3CF3-E76B-43F4-AA9A-B45035DDB821}"/>
              </a:ext>
            </a:extLst>
          </p:cNvPr>
          <p:cNvSpPr>
            <a:spLocks noGrp="1"/>
          </p:cNvSpPr>
          <p:nvPr/>
        </p:nvSpPr>
        <p:spPr>
          <a:xfrm>
            <a:off x="3152140" y="358013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8ECDCE7-46B3-4F9E-B8B0-412A30ABD2B2}"/>
              </a:ext>
            </a:extLst>
          </p:cNvPr>
          <p:cNvSpPr>
            <a:spLocks noGrp="1"/>
          </p:cNvSpPr>
          <p:nvPr/>
        </p:nvSpPr>
        <p:spPr>
          <a:xfrm>
            <a:off x="4897755" y="492887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C490FE0-E3AD-404E-B12A-BFB3C7CFA984}"/>
              </a:ext>
            </a:extLst>
          </p:cNvPr>
          <p:cNvSpPr>
            <a:spLocks noGrp="1"/>
          </p:cNvSpPr>
          <p:nvPr/>
        </p:nvSpPr>
        <p:spPr>
          <a:xfrm>
            <a:off x="4470400" y="492887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306F4A2-85D9-4591-8C10-F3EF5CC96426}"/>
              </a:ext>
            </a:extLst>
          </p:cNvPr>
          <p:cNvSpPr>
            <a:spLocks noGrp="1"/>
          </p:cNvSpPr>
          <p:nvPr/>
        </p:nvSpPr>
        <p:spPr>
          <a:xfrm>
            <a:off x="4007485" y="492887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75289F-DF00-432A-84DB-885997FF5B5A}"/>
              </a:ext>
            </a:extLst>
          </p:cNvPr>
          <p:cNvSpPr>
            <a:spLocks noGrp="1"/>
          </p:cNvSpPr>
          <p:nvPr/>
        </p:nvSpPr>
        <p:spPr>
          <a:xfrm>
            <a:off x="3579495" y="492887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5FD8C3C-B649-4D86-AF91-30E05C3DC388}"/>
              </a:ext>
            </a:extLst>
          </p:cNvPr>
          <p:cNvSpPr>
            <a:spLocks noGrp="1"/>
          </p:cNvSpPr>
          <p:nvPr/>
        </p:nvSpPr>
        <p:spPr>
          <a:xfrm>
            <a:off x="3152140" y="492887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E57CB5BE-B249-428D-AAB5-855ECD1331D7}"/>
              </a:ext>
            </a:extLst>
          </p:cNvPr>
          <p:cNvSpPr>
            <a:spLocks noGrp="1"/>
          </p:cNvSpPr>
          <p:nvPr/>
        </p:nvSpPr>
        <p:spPr>
          <a:xfrm rot="16200000">
            <a:off x="3102610" y="2917825"/>
            <a:ext cx="1989455" cy="2623820"/>
          </a:xfrm>
          <a:prstGeom prst="parallelogram">
            <a:avLst/>
          </a:prstGeom>
          <a:solidFill>
            <a:srgbClr val="C4C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6B6ED7C3-E681-4995-B661-E2FC6F29C3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418931" y="723198"/>
            <a:ext cx="1354137" cy="584606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63065F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致谢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83F5F3F0-B778-4AF3-AC66-1D2884FDFC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85713" y="1605516"/>
            <a:ext cx="10420572" cy="4635131"/>
          </a:xfrm>
        </p:spPr>
        <p:txBody>
          <a:bodyPr/>
          <a:lstStyle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9EC0144-4787-4F57-B192-5EF341C907FF}"/>
              </a:ext>
            </a:extLst>
          </p:cNvPr>
          <p:cNvSpPr>
            <a:spLocks noGrp="1"/>
          </p:cNvSpPr>
          <p:nvPr/>
        </p:nvSpPr>
        <p:spPr>
          <a:xfrm>
            <a:off x="2475865" y="2056130"/>
            <a:ext cx="7117080" cy="4347845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843D13-95A7-4171-AEA4-A4C5DF87E86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6EF35D-CE37-4DC1-B63D-16A3231043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6928997-F1CE-45DD-B7C5-32A51C5CFC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2"/>
          <p:cNvPicPr>
            <a:picLocks noChangeAspect="1"/>
          </p:cNvPicPr>
          <p:nvPr/>
        </p:nvPicPr>
        <p:blipFill>
          <a:blip r:embed="rId2"/>
          <a:srcRect r="5903"/>
          <a:stretch>
            <a:fillRect/>
          </a:stretch>
        </p:blipFill>
        <p:spPr>
          <a:xfrm>
            <a:off x="5519420" y="3183890"/>
            <a:ext cx="6680200" cy="368300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DAF80600-36EC-42FF-BCB8-B122A9CE26F0}"/>
              </a:ext>
            </a:extLst>
          </p:cNvPr>
          <p:cNvSpPr>
            <a:spLocks noGrp="1"/>
          </p:cNvSpPr>
          <p:nvPr/>
        </p:nvSpPr>
        <p:spPr>
          <a:xfrm>
            <a:off x="5519420" y="3192780"/>
            <a:ext cx="6746240" cy="367411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94" y="335915"/>
            <a:ext cx="2000259" cy="636107"/>
          </a:xfrm>
          <a:prstGeom prst="rect">
            <a:avLst/>
          </a:prstGeom>
        </p:spPr>
      </p:pic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F190E7D2-58D8-42C0-B427-35407003222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92794" y="1930603"/>
            <a:ext cx="4926013" cy="429590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南京大学20XX级 XX专业 X班</a:t>
            </a:r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3B85B5AF-6E48-48A4-8FFA-60DC288F5D8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2794" y="4364726"/>
            <a:ext cx="2514600" cy="44626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63065F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答辩人：XXX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4D4900C7-A7EC-454C-BA24-76A8EEF99FAD}"/>
              </a:ext>
            </a:extLst>
          </p:cNvPr>
          <p:cNvSpPr>
            <a:spLocks noGrp="1"/>
          </p:cNvSpPr>
          <p:nvPr/>
        </p:nvSpPr>
        <p:spPr>
          <a:xfrm>
            <a:off x="592794" y="3583347"/>
            <a:ext cx="606563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24" name="内容占位符 23">
            <a:extLst>
              <a:ext uri="{FF2B5EF4-FFF2-40B4-BE49-F238E27FC236}">
                <a16:creationId xmlns:a16="http://schemas.microsoft.com/office/drawing/2014/main" id="{D0BBE77B-25B3-4382-B67F-648AEDD7B45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0324804" y="6097588"/>
            <a:ext cx="1524000" cy="44608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202X/XX/XX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CD1415B-B81F-44DB-8F36-861D0D99A7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2794" y="2758345"/>
            <a:ext cx="6393873" cy="924705"/>
          </a:xfrm>
        </p:spPr>
        <p:txBody>
          <a:bodyPr anchor="b"/>
          <a:lstStyle>
            <a:lvl1pPr algn="l">
              <a:buNone/>
              <a:defRPr sz="6000" b="1">
                <a:solidFill>
                  <a:srgbClr val="63065F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t>南京大学答辩模板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F8E3EF-56B2-4E3D-AF09-940DA4C118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2794" y="3822750"/>
            <a:ext cx="6065633" cy="358996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副标题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0693AEE-4B0D-4A12-898B-A33C3F568E1E}"/>
              </a:ext>
            </a:extLst>
          </p:cNvPr>
          <p:cNvSpPr>
            <a:spLocks noGrp="1"/>
          </p:cNvSpPr>
          <p:nvPr/>
        </p:nvSpPr>
        <p:spPr>
          <a:xfrm rot="1440000">
            <a:off x="433070" y="3305175"/>
            <a:ext cx="623570" cy="3810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0C1B7C-E350-4B2C-B027-DA9CECDDAA9D}"/>
              </a:ext>
            </a:extLst>
          </p:cNvPr>
          <p:cNvSpPr>
            <a:spLocks noGrp="1"/>
          </p:cNvSpPr>
          <p:nvPr/>
        </p:nvSpPr>
        <p:spPr>
          <a:xfrm>
            <a:off x="548640" y="2950210"/>
            <a:ext cx="2296795" cy="3598545"/>
          </a:xfrm>
          <a:prstGeom prst="rect">
            <a:avLst/>
          </a:pr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54E23A-6E99-466E-8A98-39E35170A0D4}"/>
              </a:ext>
            </a:extLst>
          </p:cNvPr>
          <p:cNvSpPr>
            <a:spLocks noGrp="1"/>
          </p:cNvSpPr>
          <p:nvPr/>
        </p:nvSpPr>
        <p:spPr>
          <a:xfrm>
            <a:off x="2489835" y="57696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A0A7D3-189D-469A-B986-AE550DC039E8}"/>
              </a:ext>
            </a:extLst>
          </p:cNvPr>
          <p:cNvSpPr>
            <a:spLocks noGrp="1"/>
          </p:cNvSpPr>
          <p:nvPr/>
        </p:nvSpPr>
        <p:spPr>
          <a:xfrm>
            <a:off x="2062480" y="57696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EE46401-A3EA-4951-93ED-CA9DB6648B9B}"/>
              </a:ext>
            </a:extLst>
          </p:cNvPr>
          <p:cNvSpPr>
            <a:spLocks noGrp="1"/>
          </p:cNvSpPr>
          <p:nvPr/>
        </p:nvSpPr>
        <p:spPr>
          <a:xfrm>
            <a:off x="1599565" y="57696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0027E0B-8CEC-4312-8344-448B446F47C7}"/>
              </a:ext>
            </a:extLst>
          </p:cNvPr>
          <p:cNvSpPr>
            <a:spLocks noGrp="1"/>
          </p:cNvSpPr>
          <p:nvPr/>
        </p:nvSpPr>
        <p:spPr>
          <a:xfrm>
            <a:off x="1171575" y="57696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0149F99-756D-46A9-8B21-508890C51276}"/>
              </a:ext>
            </a:extLst>
          </p:cNvPr>
          <p:cNvSpPr>
            <a:spLocks noGrp="1"/>
          </p:cNvSpPr>
          <p:nvPr/>
        </p:nvSpPr>
        <p:spPr>
          <a:xfrm>
            <a:off x="744220" y="576961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E18175-0FA0-4BE8-AD59-2E6DD0A88FD2}"/>
              </a:ext>
            </a:extLst>
          </p:cNvPr>
          <p:cNvSpPr>
            <a:spLocks noGrp="1"/>
          </p:cNvSpPr>
          <p:nvPr/>
        </p:nvSpPr>
        <p:spPr>
          <a:xfrm>
            <a:off x="4805680" y="4750435"/>
            <a:ext cx="1983105" cy="1798955"/>
          </a:xfrm>
          <a:prstGeom prst="rect">
            <a:avLst/>
          </a:prstGeom>
          <a:solidFill>
            <a:srgbClr val="6306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0E59E9E5-511F-417F-9C71-EE33FECA5F0C}"/>
              </a:ext>
            </a:extLst>
          </p:cNvPr>
          <p:cNvSpPr>
            <a:spLocks noGrp="1"/>
          </p:cNvSpPr>
          <p:nvPr/>
        </p:nvSpPr>
        <p:spPr>
          <a:xfrm>
            <a:off x="4900930" y="4255770"/>
            <a:ext cx="1887855" cy="494665"/>
          </a:xfrm>
          <a:prstGeom prst="rtTriangle">
            <a:avLst/>
          </a:prstGeom>
          <a:solidFill>
            <a:srgbClr val="6306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8EA5E0FD-4D62-4D93-9F78-19BF7A3993DC}"/>
              </a:ext>
            </a:extLst>
          </p:cNvPr>
          <p:cNvSpPr>
            <a:spLocks noGrp="1"/>
          </p:cNvSpPr>
          <p:nvPr/>
        </p:nvSpPr>
        <p:spPr>
          <a:xfrm flipH="1">
            <a:off x="1755775" y="4255135"/>
            <a:ext cx="3756025" cy="2293620"/>
          </a:xfrm>
          <a:prstGeom prst="triangle">
            <a:avLst>
              <a:gd name="adj" fmla="val 16328"/>
            </a:avLst>
          </a:prstGeom>
          <a:solidFill>
            <a:srgbClr val="6306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56776-27F5-4EE4-ABE8-70DE0FF5C5B6}"/>
              </a:ext>
            </a:extLst>
          </p:cNvPr>
          <p:cNvSpPr>
            <a:spLocks noGrp="1"/>
          </p:cNvSpPr>
          <p:nvPr/>
        </p:nvSpPr>
        <p:spPr>
          <a:xfrm>
            <a:off x="2496820" y="334772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098AC3-776F-41DD-BCEA-64B68762EA44}"/>
              </a:ext>
            </a:extLst>
          </p:cNvPr>
          <p:cNvSpPr>
            <a:spLocks noGrp="1"/>
          </p:cNvSpPr>
          <p:nvPr/>
        </p:nvSpPr>
        <p:spPr>
          <a:xfrm>
            <a:off x="2069465" y="334772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DB6DFC-6562-4432-85ED-3FD675CC2C5B}"/>
              </a:ext>
            </a:extLst>
          </p:cNvPr>
          <p:cNvSpPr>
            <a:spLocks noGrp="1"/>
          </p:cNvSpPr>
          <p:nvPr/>
        </p:nvSpPr>
        <p:spPr>
          <a:xfrm>
            <a:off x="1606550" y="334772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201F36-CFB6-4A4C-BCAC-8D10225AFCD0}"/>
              </a:ext>
            </a:extLst>
          </p:cNvPr>
          <p:cNvSpPr>
            <a:spLocks noGrp="1"/>
          </p:cNvSpPr>
          <p:nvPr/>
        </p:nvSpPr>
        <p:spPr>
          <a:xfrm>
            <a:off x="1178560" y="334772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6B7ABAE-C773-4CED-B293-F90068427448}"/>
              </a:ext>
            </a:extLst>
          </p:cNvPr>
          <p:cNvSpPr>
            <a:spLocks noGrp="1"/>
          </p:cNvSpPr>
          <p:nvPr/>
        </p:nvSpPr>
        <p:spPr>
          <a:xfrm>
            <a:off x="751205" y="334772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7FC682-BEC1-406C-96B5-3589B516CEC3}"/>
              </a:ext>
            </a:extLst>
          </p:cNvPr>
          <p:cNvSpPr>
            <a:spLocks noGrp="1"/>
          </p:cNvSpPr>
          <p:nvPr/>
        </p:nvSpPr>
        <p:spPr>
          <a:xfrm>
            <a:off x="2496820" y="388874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FAD9129-8CB2-4219-B747-CA3874E0F5B9}"/>
              </a:ext>
            </a:extLst>
          </p:cNvPr>
          <p:cNvSpPr>
            <a:spLocks noGrp="1"/>
          </p:cNvSpPr>
          <p:nvPr/>
        </p:nvSpPr>
        <p:spPr>
          <a:xfrm>
            <a:off x="2069465" y="388874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A17E5B7-DD93-43CF-8F3B-054F60388275}"/>
              </a:ext>
            </a:extLst>
          </p:cNvPr>
          <p:cNvSpPr>
            <a:spLocks noGrp="1"/>
          </p:cNvSpPr>
          <p:nvPr/>
        </p:nvSpPr>
        <p:spPr>
          <a:xfrm>
            <a:off x="1606550" y="388874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C6F234D-C28F-47B6-B2E4-87C4433DE2A6}"/>
              </a:ext>
            </a:extLst>
          </p:cNvPr>
          <p:cNvSpPr>
            <a:spLocks noGrp="1"/>
          </p:cNvSpPr>
          <p:nvPr/>
        </p:nvSpPr>
        <p:spPr>
          <a:xfrm>
            <a:off x="1178560" y="388874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3A8E8F6-2BD6-43BF-989A-66EE628CBF11}"/>
              </a:ext>
            </a:extLst>
          </p:cNvPr>
          <p:cNvSpPr>
            <a:spLocks noGrp="1"/>
          </p:cNvSpPr>
          <p:nvPr/>
        </p:nvSpPr>
        <p:spPr>
          <a:xfrm>
            <a:off x="751205" y="388874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3893193-8AFE-4FF0-B226-5EF61FFBE4FC}"/>
              </a:ext>
            </a:extLst>
          </p:cNvPr>
          <p:cNvSpPr>
            <a:spLocks noGrp="1"/>
          </p:cNvSpPr>
          <p:nvPr/>
        </p:nvSpPr>
        <p:spPr>
          <a:xfrm>
            <a:off x="2496820" y="523748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91DDB14-EE40-4D62-8F2E-29C773D090AF}"/>
              </a:ext>
            </a:extLst>
          </p:cNvPr>
          <p:cNvSpPr>
            <a:spLocks noGrp="1"/>
          </p:cNvSpPr>
          <p:nvPr/>
        </p:nvSpPr>
        <p:spPr>
          <a:xfrm>
            <a:off x="2069465" y="523748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C801B01-A0B8-43F2-BD5C-326AC2264136}"/>
              </a:ext>
            </a:extLst>
          </p:cNvPr>
          <p:cNvSpPr>
            <a:spLocks noGrp="1"/>
          </p:cNvSpPr>
          <p:nvPr/>
        </p:nvSpPr>
        <p:spPr>
          <a:xfrm>
            <a:off x="1606550" y="523748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C025C8E-1D5E-4428-A3EE-F7AA6FD23921}"/>
              </a:ext>
            </a:extLst>
          </p:cNvPr>
          <p:cNvSpPr>
            <a:spLocks noGrp="1"/>
          </p:cNvSpPr>
          <p:nvPr/>
        </p:nvSpPr>
        <p:spPr>
          <a:xfrm>
            <a:off x="1178560" y="523748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5E2B960-F366-479F-A19E-98DD8EE9D0DE}"/>
              </a:ext>
            </a:extLst>
          </p:cNvPr>
          <p:cNvSpPr>
            <a:spLocks noGrp="1"/>
          </p:cNvSpPr>
          <p:nvPr/>
        </p:nvSpPr>
        <p:spPr>
          <a:xfrm>
            <a:off x="751205" y="5237480"/>
            <a:ext cx="182880" cy="29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21442225-3AC2-4A7F-AC59-6D16F6539915}"/>
              </a:ext>
            </a:extLst>
          </p:cNvPr>
          <p:cNvSpPr>
            <a:spLocks noGrp="1"/>
          </p:cNvSpPr>
          <p:nvPr/>
        </p:nvSpPr>
        <p:spPr>
          <a:xfrm rot="16200000">
            <a:off x="701675" y="3226435"/>
            <a:ext cx="1989455" cy="2623820"/>
          </a:xfrm>
          <a:prstGeom prst="parallelogram">
            <a:avLst/>
          </a:prstGeom>
          <a:solidFill>
            <a:srgbClr val="C4C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0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543775">
            <a:off x="240084" y="-21142"/>
            <a:ext cx="1385236" cy="12547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71E2D9F-B76C-4EBC-9957-A7E566C056EC}"/>
              </a:ext>
            </a:extLst>
          </p:cNvPr>
          <p:cNvSpPr>
            <a:spLocks noGrp="1"/>
          </p:cNvSpPr>
          <p:nvPr/>
        </p:nvSpPr>
        <p:spPr>
          <a:xfrm>
            <a:off x="771525" y="367665"/>
            <a:ext cx="7048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chemeClr val="bg1">
                    <a:lumMod val="95000"/>
                  </a:schemeClr>
                </a:solidFill>
                <a:latin typeface="微软雅黑"/>
                <a:ea typeface="微软雅黑"/>
                <a:cs typeface="微软雅黑"/>
              </a:rPr>
              <a:t>目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20F857A-30E2-4CB5-889C-BE6BD9BD2A75}"/>
              </a:ext>
            </a:extLst>
          </p:cNvPr>
          <p:cNvSpPr>
            <a:spLocks noGrp="1"/>
          </p:cNvSpPr>
          <p:nvPr/>
        </p:nvSpPr>
        <p:spPr>
          <a:xfrm>
            <a:off x="187960" y="2349500"/>
            <a:ext cx="7117080" cy="4347845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786860-7766-47F8-A0D8-32E007E4C58F}"/>
              </a:ext>
            </a:extLst>
          </p:cNvPr>
          <p:cNvSpPr>
            <a:spLocks noGrp="1"/>
          </p:cNvSpPr>
          <p:nvPr/>
        </p:nvSpPr>
        <p:spPr>
          <a:xfrm>
            <a:off x="1355067" y="367665"/>
            <a:ext cx="7048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录</a:t>
            </a:r>
          </a:p>
        </p:txBody>
      </p:sp>
      <p:pic>
        <p:nvPicPr>
          <p:cNvPr id="64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9518" y="346785"/>
            <a:ext cx="1633105" cy="519347"/>
          </a:xfrm>
          <a:prstGeom prst="rect">
            <a:avLst/>
          </a:prstGeom>
        </p:spPr>
      </p:pic>
      <p:sp>
        <p:nvSpPr>
          <p:cNvPr id="24" name="内容占位符 23">
            <a:extLst>
              <a:ext uri="{FF2B5EF4-FFF2-40B4-BE49-F238E27FC236}">
                <a16:creationId xmlns:a16="http://schemas.microsoft.com/office/drawing/2014/main" id="{06B1975D-5B8B-47B5-BE13-F56DD6D6885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54120" y="1465162"/>
            <a:ext cx="704850" cy="465138"/>
          </a:xfrm>
        </p:spPr>
        <p:txBody>
          <a:bodyPr/>
          <a:lstStyle>
            <a:lvl1pPr marL="0" indent="0">
              <a:buNone/>
              <a:defRPr b="1">
                <a:solidFill>
                  <a:srgbClr val="63065F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01 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ED4AA03F-0B0A-44EE-B14B-B896D9EC3FD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70462" y="1465162"/>
            <a:ext cx="3251200" cy="465138"/>
          </a:xfrm>
        </p:spPr>
        <p:txBody>
          <a:bodyPr/>
          <a:lstStyle>
            <a:lvl1pPr marL="0" indent="0"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选题背景及意义</a:t>
            </a:r>
          </a:p>
        </p:txBody>
      </p:sp>
      <p:sp>
        <p:nvSpPr>
          <p:cNvPr id="27" name="内容占位符 23">
            <a:extLst>
              <a:ext uri="{FF2B5EF4-FFF2-40B4-BE49-F238E27FC236}">
                <a16:creationId xmlns:a16="http://schemas.microsoft.com/office/drawing/2014/main" id="{0FB4A339-0F3E-42A5-B00C-5292B3D07DA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754120" y="2349546"/>
            <a:ext cx="704850" cy="465138"/>
          </a:xfrm>
        </p:spPr>
        <p:txBody>
          <a:bodyPr/>
          <a:lstStyle>
            <a:lvl1pPr marL="0" indent="0">
              <a:buNone/>
              <a:defRPr b="1">
                <a:solidFill>
                  <a:srgbClr val="63065F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02 </a:t>
            </a:r>
          </a:p>
        </p:txBody>
      </p:sp>
      <p:sp>
        <p:nvSpPr>
          <p:cNvPr id="28" name="内容占位符 23">
            <a:extLst>
              <a:ext uri="{FF2B5EF4-FFF2-40B4-BE49-F238E27FC236}">
                <a16:creationId xmlns:a16="http://schemas.microsoft.com/office/drawing/2014/main" id="{90D3D7E8-3B8A-4317-8D9C-AE7FD18B24D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754120" y="3238009"/>
            <a:ext cx="704850" cy="465138"/>
          </a:xfrm>
        </p:spPr>
        <p:txBody>
          <a:bodyPr/>
          <a:lstStyle>
            <a:lvl1pPr marL="0" indent="0">
              <a:buNone/>
              <a:defRPr b="1">
                <a:solidFill>
                  <a:srgbClr val="63065F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03 </a:t>
            </a:r>
          </a:p>
        </p:txBody>
      </p:sp>
      <p:sp>
        <p:nvSpPr>
          <p:cNvPr id="29" name="内容占位符 23">
            <a:extLst>
              <a:ext uri="{FF2B5EF4-FFF2-40B4-BE49-F238E27FC236}">
                <a16:creationId xmlns:a16="http://schemas.microsoft.com/office/drawing/2014/main" id="{7ED8FD52-0D95-4A8D-8406-B55AFDF1659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754120" y="4122521"/>
            <a:ext cx="704850" cy="465138"/>
          </a:xfrm>
        </p:spPr>
        <p:txBody>
          <a:bodyPr/>
          <a:lstStyle>
            <a:lvl1pPr marL="0" indent="0">
              <a:buNone/>
              <a:defRPr b="1">
                <a:solidFill>
                  <a:srgbClr val="63065F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04 </a:t>
            </a:r>
          </a:p>
        </p:txBody>
      </p:sp>
      <p:sp>
        <p:nvSpPr>
          <p:cNvPr id="30" name="内容占位符 25">
            <a:extLst>
              <a:ext uri="{FF2B5EF4-FFF2-40B4-BE49-F238E27FC236}">
                <a16:creationId xmlns:a16="http://schemas.microsoft.com/office/drawing/2014/main" id="{42C8A972-0D0A-4801-969E-3AEC0F7CE92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470462" y="2349546"/>
            <a:ext cx="3251200" cy="465138"/>
          </a:xfrm>
        </p:spPr>
        <p:txBody>
          <a:bodyPr/>
          <a:lstStyle>
            <a:lvl1pPr marL="0" indent="0"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研究现状</a:t>
            </a:r>
          </a:p>
        </p:txBody>
      </p:sp>
      <p:sp>
        <p:nvSpPr>
          <p:cNvPr id="31" name="内容占位符 25">
            <a:extLst>
              <a:ext uri="{FF2B5EF4-FFF2-40B4-BE49-F238E27FC236}">
                <a16:creationId xmlns:a16="http://schemas.microsoft.com/office/drawing/2014/main" id="{C09C8B24-DF95-4D99-B60D-B314EC3F8017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58972" y="3231695"/>
            <a:ext cx="3251200" cy="465138"/>
          </a:xfrm>
        </p:spPr>
        <p:txBody>
          <a:bodyPr/>
          <a:lstStyle>
            <a:lvl1pPr marL="0" indent="0"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论文综述</a:t>
            </a:r>
          </a:p>
        </p:txBody>
      </p:sp>
      <p:sp>
        <p:nvSpPr>
          <p:cNvPr id="32" name="内容占位符 25">
            <a:extLst>
              <a:ext uri="{FF2B5EF4-FFF2-40B4-BE49-F238E27FC236}">
                <a16:creationId xmlns:a16="http://schemas.microsoft.com/office/drawing/2014/main" id="{89C1EF7F-8DC9-459D-A95D-438D458F416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470462" y="4125046"/>
            <a:ext cx="3251200" cy="465138"/>
          </a:xfrm>
        </p:spPr>
        <p:txBody>
          <a:bodyPr/>
          <a:lstStyle>
            <a:lvl1pPr marL="0" indent="0"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总结与展望</a:t>
            </a:r>
          </a:p>
        </p:txBody>
      </p:sp>
      <p:sp>
        <p:nvSpPr>
          <p:cNvPr id="33" name="内容占位符 23">
            <a:extLst>
              <a:ext uri="{FF2B5EF4-FFF2-40B4-BE49-F238E27FC236}">
                <a16:creationId xmlns:a16="http://schemas.microsoft.com/office/drawing/2014/main" id="{8A595A88-A902-48D7-B4BD-75AD85A1100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765612" y="4968251"/>
            <a:ext cx="704850" cy="465138"/>
          </a:xfrm>
        </p:spPr>
        <p:txBody>
          <a:bodyPr/>
          <a:lstStyle>
            <a:lvl1pPr marL="0" indent="0">
              <a:buNone/>
              <a:defRPr b="1">
                <a:solidFill>
                  <a:srgbClr val="63065F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05 </a:t>
            </a:r>
          </a:p>
        </p:txBody>
      </p:sp>
      <p:sp>
        <p:nvSpPr>
          <p:cNvPr id="34" name="内容占位符 25">
            <a:extLst>
              <a:ext uri="{FF2B5EF4-FFF2-40B4-BE49-F238E27FC236}">
                <a16:creationId xmlns:a16="http://schemas.microsoft.com/office/drawing/2014/main" id="{2B150519-789D-4F1D-BF4F-E45DE054D14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470462" y="4968251"/>
            <a:ext cx="3251200" cy="465138"/>
          </a:xfrm>
        </p:spPr>
        <p:txBody>
          <a:bodyPr/>
          <a:lstStyle>
            <a:lvl1pPr marL="0" indent="0"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>
            <a:pPr>
              <a:buNone/>
            </a:pPr>
            <a:r>
              <a:t>参考文献</a:t>
            </a:r>
          </a:p>
        </p:txBody>
      </p:sp>
      <p:sp>
        <p:nvSpPr>
          <p:cNvPr id="35" name="灯片编号占位符 5">
            <a:extLst>
              <a:ext uri="{FF2B5EF4-FFF2-40B4-BE49-F238E27FC236}">
                <a16:creationId xmlns:a16="http://schemas.microsoft.com/office/drawing/2014/main" id="{E6F63D17-DC15-4E87-A1CF-933F3E6F57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9250" y="6365875"/>
            <a:ext cx="2743200" cy="365125"/>
          </a:xfrm>
        </p:spPr>
        <p:txBody>
          <a:bodyPr/>
          <a:lstStyle>
            <a:lvl1pPr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6928997-F1CE-45DD-B7C5-32A51C5CFC9A}" type="slidenum">
              <a:t>‹#›</a:t>
            </a:fld>
            <a:endParaRPr/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82E745FD-D582-4633-84C3-0F2A5221A3B3}"/>
              </a:ext>
            </a:extLst>
          </p:cNvPr>
          <p:cNvSpPr>
            <a:spLocks noGrp="1"/>
          </p:cNvSpPr>
          <p:nvPr/>
        </p:nvSpPr>
        <p:spPr>
          <a:xfrm>
            <a:off x="545805" y="6549655"/>
            <a:ext cx="1063255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6A6D7-4ECD-4117-88F8-F35F1ED4C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824" y="217407"/>
            <a:ext cx="7790656" cy="490066"/>
          </a:xfrm>
        </p:spPr>
        <p:txBody>
          <a:bodyPr>
            <a:noAutofit/>
          </a:bodyPr>
          <a:lstStyle>
            <a:lvl1pPr>
              <a:buNone/>
              <a:defRPr sz="3200" b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XXXXXXXX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965FC4-32C6-454C-90DC-9F1E98D509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403" y="1297546"/>
            <a:ext cx="10657184" cy="4525963"/>
          </a:xfrm>
        </p:spPr>
        <p:txBody>
          <a:bodyPr/>
          <a:lstStyle>
            <a:lvl1pPr>
              <a:buNone/>
              <a:defRPr sz="3000"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 sz="2000"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 sz="1500"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 sz="1500"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 sz="1500">
                <a:latin typeface="Times New Roman"/>
                <a:ea typeface="Times New Roman"/>
                <a:cs typeface="Times New Roman"/>
              </a:defRPr>
            </a:lvl5pPr>
          </a:lstStyle>
          <a:p>
            <a:pPr>
              <a:buNone/>
            </a:pPr>
            <a:r>
              <a:t>XXXXXXX</a:t>
            </a:r>
          </a:p>
          <a:p>
            <a:pPr>
              <a:buNone/>
            </a:pPr>
            <a:r>
              <a:t>XXXXXX</a:t>
            </a:r>
          </a:p>
          <a:p>
            <a:pPr>
              <a:buNone/>
            </a:pPr>
            <a:r>
              <a:t>XXXXXX</a:t>
            </a:r>
          </a:p>
          <a:p>
            <a:pPr>
              <a:buNone/>
            </a:pPr>
            <a:r>
              <a:t>XXXXXX</a:t>
            </a:r>
          </a:p>
          <a:p>
            <a:pPr>
              <a:buNone/>
            </a:pPr>
            <a:r>
              <a:t>XXXXXX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421B92-8BD7-4707-A276-B5FDF4F20B8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</p:spPr>
        <p:txBody>
          <a:bodyPr/>
          <a:lstStyle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DF6893-5B72-4628-B8B8-2B392DA7CD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>
            <a:fld id="{0C913308-F349-4B6D-A68A-DD1791B4A57B}" type="slidenum">
              <a:t>‹#›</a:t>
            </a:fld>
            <a:endParaRPr/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C90CD2E0-8F5E-45F9-B271-F9854C3145B4}"/>
              </a:ext>
            </a:extLst>
          </p:cNvPr>
          <p:cNvSpPr>
            <a:spLocks noGrp="1"/>
          </p:cNvSpPr>
          <p:nvPr/>
        </p:nvSpPr>
        <p:spPr>
          <a:xfrm>
            <a:off x="1775521" y="764704"/>
            <a:ext cx="9601067" cy="0"/>
          </a:xfrm>
          <a:prstGeom prst="line">
            <a:avLst/>
          </a:prstGeom>
          <a:ln w="57150">
            <a:solidFill>
              <a:srgbClr val="6A01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0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9694" y="192692"/>
            <a:ext cx="773050" cy="78803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47A04-3E56-5867-2836-B9E081D0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65951B-9164-D96D-EFB9-87614DB5B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24E938-0A61-C83D-ABF8-609CB476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CAC5-BD83-46AF-982D-B0EE7D6131B2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D18686-1DE5-5D3D-8B05-B5AF609A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F9E800-B0F8-084F-05E9-94E1E3AB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793B3-3BD5-4424-BC5B-8E99D86C87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22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63F11FA4-7114-4E0F-B94C-7E611BC3C220}"/>
              </a:ext>
            </a:extLst>
          </p:cNvPr>
          <p:cNvSpPr>
            <a:spLocks noGrp="1"/>
          </p:cNvSpPr>
          <p:nvPr/>
        </p:nvSpPr>
        <p:spPr>
          <a:xfrm>
            <a:off x="1886988" y="1162064"/>
            <a:ext cx="9840884" cy="1718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FE978-4A0B-403C-A1AF-AD6A61B5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8" y="543748"/>
            <a:ext cx="5196839" cy="522201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r>
              <a:t>X.X 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C3CB63-10D3-4641-95F7-E6522130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128" y="1429795"/>
            <a:ext cx="10889672" cy="474716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pic>
        <p:nvPicPr>
          <p:cNvPr id="24" name="图片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400" y="6316116"/>
            <a:ext cx="1445379" cy="459649"/>
          </a:xfrm>
          <a:prstGeom prst="rect">
            <a:avLst/>
          </a:prstGeom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26C5B78-7183-4D9A-A1B7-6A1AA163E8DB}"/>
              </a:ext>
            </a:extLst>
          </p:cNvPr>
          <p:cNvSpPr>
            <a:spLocks noGrp="1"/>
          </p:cNvSpPr>
          <p:nvPr/>
        </p:nvSpPr>
        <p:spPr>
          <a:xfrm>
            <a:off x="1886988" y="6545941"/>
            <a:ext cx="933519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3A59A975-EB45-4DE9-9B13-408E86D884D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9239250" y="6365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36928997-F1CE-45DD-B7C5-32A51C5CFC9A}" type="slidenum">
              <a:t>‹#›</a:t>
            </a:fld>
            <a:endParaRPr/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D0F114A1-A3FC-4A50-8A2C-F93ECC373139}"/>
              </a:ext>
            </a:extLst>
          </p:cNvPr>
          <p:cNvSpPr>
            <a:spLocks noGrp="1"/>
          </p:cNvSpPr>
          <p:nvPr/>
        </p:nvSpPr>
        <p:spPr>
          <a:xfrm>
            <a:off x="464128" y="1163782"/>
            <a:ext cx="2478577" cy="0"/>
          </a:xfrm>
          <a:prstGeom prst="line">
            <a:avLst/>
          </a:prstGeom>
          <a:ln w="28575">
            <a:solidFill>
              <a:srgbClr val="6306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>
        <a:lnSpc>
          <a:spcPct val="90000"/>
        </a:lnSpc>
        <a:buNone/>
        <a:defRPr sz="2800" b="1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EDA320B1-CD8D-4EC1-B965-A0001EC3D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60" y="1864995"/>
            <a:ext cx="11026140" cy="137985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dirty="0">
                <a:sym typeface="+mn-ea"/>
              </a:rPr>
              <a:t>南京大学计算机学院暑期科研实践</a:t>
            </a:r>
            <a:br>
              <a:rPr lang="zh-CN" altLang="en-US" sz="4800" dirty="0">
                <a:sym typeface="+mn-ea"/>
              </a:rPr>
            </a:br>
            <a:r>
              <a:rPr lang="zh-CN" altLang="en-US" sz="4800" dirty="0">
                <a:sym typeface="+mn-ea"/>
              </a:rPr>
              <a:t>大模型推理优化方向</a:t>
            </a:r>
            <a:endParaRPr sz="4800" dirty="0"/>
          </a:p>
        </p:txBody>
      </p:sp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23813D1A-4EC7-4492-B39D-35F245CD13E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2994" y="3727577"/>
            <a:ext cx="4495038" cy="1184910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2400" dirty="0"/>
              <a:t>论文列表及实践要求</a:t>
            </a:r>
            <a:endParaRPr sz="2400" dirty="0"/>
          </a:p>
          <a:p>
            <a:pPr algn="ctr">
              <a:lnSpc>
                <a:spcPct val="120000"/>
              </a:lnSpc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593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45536" y="247092"/>
            <a:ext cx="7790656" cy="490066"/>
          </a:xfrm>
        </p:spPr>
        <p:txBody>
          <a:bodyPr/>
          <a:lstStyle/>
          <a:p>
            <a:r>
              <a:rPr lang="zh-CN" altLang="en-US" b="1" dirty="0">
                <a:sym typeface="+mn-ea"/>
              </a:rPr>
              <a:t>投机推理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455" y="1297305"/>
            <a:ext cx="10262235" cy="505968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论文列表：</a:t>
            </a:r>
            <a:endParaRPr lang="en-US" altLang="zh-CN" sz="2800" dirty="0"/>
          </a:p>
          <a:p>
            <a:pPr>
              <a:lnSpc>
                <a:spcPct val="100000"/>
              </a:lnSpc>
            </a:pPr>
            <a:r>
              <a:rPr lang="en-US" altLang="zh-CN" sz="1400" dirty="0">
                <a:sym typeface="+mn-ea"/>
              </a:rPr>
              <a:t>1. </a:t>
            </a:r>
            <a:r>
              <a:rPr lang="en" altLang="zh-CN" sz="1400" dirty="0">
                <a:sym typeface="+mn-ea"/>
              </a:rPr>
              <a:t>Fast Inference from Transformers via Speculative Decoding</a:t>
            </a:r>
          </a:p>
          <a:p>
            <a:pPr>
              <a:lnSpc>
                <a:spcPct val="100000"/>
              </a:lnSpc>
            </a:pPr>
            <a:r>
              <a:rPr lang="en" altLang="zh-CN" sz="1400" dirty="0">
                <a:sym typeface="+mn-ea"/>
              </a:rPr>
              <a:t>2. </a:t>
            </a:r>
            <a:r>
              <a:rPr lang="en" altLang="zh-CN" sz="1400" dirty="0" err="1">
                <a:sym typeface="+mn-ea"/>
              </a:rPr>
              <a:t>SpecInfer</a:t>
            </a:r>
            <a:r>
              <a:rPr lang="zh-CN" altLang="en" sz="1400" dirty="0">
                <a:sym typeface="+mn-ea"/>
              </a:rPr>
              <a:t>：</a:t>
            </a:r>
            <a:r>
              <a:rPr lang="en" altLang="zh-CN" sz="1400" dirty="0" err="1">
                <a:sym typeface="+mn-ea"/>
              </a:rPr>
              <a:t>SpecInfer</a:t>
            </a:r>
            <a:r>
              <a:rPr lang="en" altLang="zh-CN" sz="1400" dirty="0">
                <a:sym typeface="+mn-ea"/>
              </a:rPr>
              <a:t>: Accelerating Generative LLM Serving with Speculative Inference and Token Tree Verification</a:t>
            </a:r>
          </a:p>
          <a:p>
            <a:pPr>
              <a:lnSpc>
                <a:spcPct val="100000"/>
              </a:lnSpc>
            </a:pPr>
            <a:r>
              <a:rPr lang="en" altLang="zh-CN" sz="1400" dirty="0">
                <a:sym typeface="+mn-ea"/>
              </a:rPr>
              <a:t>3. EAGLE-2</a:t>
            </a:r>
            <a:r>
              <a:rPr lang="zh-CN" altLang="en" sz="1400" dirty="0">
                <a:sym typeface="+mn-ea"/>
              </a:rPr>
              <a:t>：</a:t>
            </a:r>
            <a:r>
              <a:rPr lang="en" altLang="zh-CN" sz="1400" dirty="0">
                <a:sym typeface="+mn-ea"/>
              </a:rPr>
              <a:t>EAGLE-2: Faster Inference of Language Models with Dynamic Draft Trees</a:t>
            </a:r>
          </a:p>
          <a:p>
            <a:pPr>
              <a:lnSpc>
                <a:spcPct val="100000"/>
              </a:lnSpc>
            </a:pPr>
            <a:r>
              <a:rPr lang="en" altLang="zh-CN" sz="1400" dirty="0">
                <a:sym typeface="+mn-ea"/>
              </a:rPr>
              <a:t>4. </a:t>
            </a:r>
            <a:r>
              <a:rPr lang="en" altLang="zh-CN" sz="1400" dirty="0" err="1">
                <a:sym typeface="+mn-ea"/>
              </a:rPr>
              <a:t>DFlash</a:t>
            </a:r>
            <a:r>
              <a:rPr lang="zh-CN" altLang="en" sz="1400" dirty="0">
                <a:sym typeface="+mn-ea"/>
              </a:rPr>
              <a:t>：</a:t>
            </a:r>
            <a:r>
              <a:rPr lang="en" altLang="zh-CN" sz="1400" dirty="0" err="1">
                <a:sym typeface="+mn-ea"/>
              </a:rPr>
              <a:t>DFlash</a:t>
            </a:r>
            <a:r>
              <a:rPr lang="en" altLang="zh-CN" sz="1400" dirty="0">
                <a:sym typeface="+mn-ea"/>
              </a:rPr>
              <a:t>: Block Diffusion for Flash Speculative Decoding</a:t>
            </a:r>
            <a:endParaRPr lang="zh-CN" altLang="en-US" sz="1400" dirty="0"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F204-6E1B-40D8-7E94-514D6637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40E60-4FDE-B111-C9EF-52F1B0B0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536" y="247092"/>
            <a:ext cx="7790656" cy="490066"/>
          </a:xfrm>
        </p:spPr>
        <p:txBody>
          <a:bodyPr/>
          <a:lstStyle/>
          <a:p>
            <a:r>
              <a:rPr lang="zh-CN" altLang="en-US" b="1" dirty="0">
                <a:sym typeface="+mn-ea"/>
              </a:rPr>
              <a:t>多芯调度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B7F07-D2E0-47DC-4EB5-744226CA8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55" y="1297305"/>
            <a:ext cx="10262235" cy="505968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2800" dirty="0"/>
              <a:t>论文列表：</a:t>
            </a:r>
            <a:endParaRPr lang="en-US" altLang="zh-CN" sz="2800" dirty="0"/>
          </a:p>
          <a:p>
            <a:r>
              <a:rPr lang="zh-CN" altLang="en-US" sz="2000" dirty="0">
                <a:sym typeface="+mn-ea"/>
              </a:rPr>
              <a:t>必读：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1. Rajput, S., et al. (2023). "Recommender Systems with Generative Retrieval." arXiv:2305.05065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2. Meta AI. (2024). "Actions Speak Louder than Words: Trillion-Parameter Sequential Transducers for Generative Recommendations." arXiv:2402.17152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3. Wang, J., et al. (2026). "</a:t>
            </a:r>
            <a:r>
              <a:rPr lang="en-US" altLang="zh-CN" sz="1800" dirty="0" err="1">
                <a:sym typeface="+mn-ea"/>
              </a:rPr>
              <a:t>RelayGR</a:t>
            </a:r>
            <a:r>
              <a:rPr lang="en-US" altLang="zh-CN" sz="1800" dirty="0">
                <a:sym typeface="+mn-ea"/>
              </a:rPr>
              <a:t>: Scaling Long-Sequence Generative Recommendation via Cross-Stage Relay-Race Inference." arXiv:2601.01712</a:t>
            </a:r>
          </a:p>
          <a:p>
            <a:pPr>
              <a:lnSpc>
                <a:spcPct val="110000"/>
              </a:lnSpc>
            </a:pPr>
            <a:r>
              <a:rPr lang="zh-CN" altLang="en-US" sz="1800" dirty="0">
                <a:sym typeface="+mn-ea"/>
              </a:rPr>
              <a:t>选读：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1. </a:t>
            </a:r>
            <a:r>
              <a:rPr lang="en-US" altLang="zh-CN" sz="1800" dirty="0" err="1">
                <a:sym typeface="+mn-ea"/>
              </a:rPr>
              <a:t>RecOS</a:t>
            </a:r>
            <a:r>
              <a:rPr lang="en-US" altLang="zh-CN" sz="1800" dirty="0">
                <a:sym typeface="+mn-ea"/>
              </a:rPr>
              <a:t>: Guo et al., “Efficient Inter-Operator Scheduling for Concurrent Recommendation Model Inference on GPU”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2. </a:t>
            </a:r>
            <a:r>
              <a:rPr lang="en-US" altLang="zh-CN" sz="1800" dirty="0" err="1">
                <a:sym typeface="+mn-ea"/>
              </a:rPr>
              <a:t>RcLLM</a:t>
            </a:r>
            <a:r>
              <a:rPr lang="en-US" altLang="zh-CN" sz="1800" dirty="0">
                <a:sym typeface="+mn-ea"/>
              </a:rPr>
              <a:t>: Zhao et al., “</a:t>
            </a:r>
            <a:r>
              <a:rPr lang="en-US" altLang="zh-CN" sz="1800" dirty="0" err="1">
                <a:sym typeface="+mn-ea"/>
              </a:rPr>
              <a:t>RcLLM</a:t>
            </a:r>
            <a:r>
              <a:rPr lang="en-US" altLang="zh-CN" sz="1800" dirty="0">
                <a:sym typeface="+mn-ea"/>
              </a:rPr>
              <a:t>: Accelerating Generative Recommendation via Beyond-Prefix KV Caching”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3. </a:t>
            </a:r>
            <a:r>
              <a:rPr lang="en-US" altLang="zh-CN" sz="1800" dirty="0" err="1">
                <a:sym typeface="+mn-ea"/>
              </a:rPr>
              <a:t>MTServe</a:t>
            </a:r>
            <a:r>
              <a:rPr lang="en-US" altLang="zh-CN" sz="1800" dirty="0">
                <a:sym typeface="+mn-ea"/>
              </a:rPr>
              <a:t>: Efficient Serving for Generative Recommendation Models with Hierarchical Caches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4. </a:t>
            </a:r>
            <a:r>
              <a:rPr lang="en-US" altLang="zh-CN" sz="1800" dirty="0" err="1">
                <a:sym typeface="+mn-ea"/>
              </a:rPr>
              <a:t>TwiSTAR</a:t>
            </a:r>
            <a:r>
              <a:rPr lang="en-US" altLang="zh-CN" sz="1800" dirty="0">
                <a:sym typeface="+mn-ea"/>
              </a:rPr>
              <a:t>: </a:t>
            </a:r>
            <a:r>
              <a:rPr lang="en-US" altLang="zh-CN" sz="1800" dirty="0" err="1">
                <a:sym typeface="+mn-ea"/>
              </a:rPr>
              <a:t>TwiSTAR:Think</a:t>
            </a:r>
            <a:r>
              <a:rPr lang="en-US" altLang="zh-CN" sz="1800" dirty="0">
                <a:sym typeface="+mn-ea"/>
              </a:rPr>
              <a:t> Fast, Think Slow, Then </a:t>
            </a:r>
            <a:r>
              <a:rPr lang="en-US" altLang="zh-CN" sz="1800" dirty="0" err="1">
                <a:sym typeface="+mn-ea"/>
              </a:rPr>
              <a:t>Act,Generative</a:t>
            </a:r>
            <a:r>
              <a:rPr lang="en-US" altLang="zh-CN" sz="1800" dirty="0">
                <a:sym typeface="+mn-ea"/>
              </a:rPr>
              <a:t> Recommendation with Adaptive Reasoning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5. PROMISE: PROMISE: Process Reward Models Unlock Test-Time Scaling Laws in Generative Recommendations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6. </a:t>
            </a:r>
            <a:r>
              <a:rPr lang="en-US" altLang="zh-CN" sz="1800" dirty="0" err="1">
                <a:sym typeface="+mn-ea"/>
              </a:rPr>
              <a:t>AtSpeed</a:t>
            </a:r>
            <a:r>
              <a:rPr lang="en-US" altLang="zh-CN" sz="1800" dirty="0">
                <a:sym typeface="+mn-ea"/>
              </a:rPr>
              <a:t>: Efficient inference for large language model-based generative recommendation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7. DARE: Language models are super </a:t>
            </a:r>
            <a:r>
              <a:rPr lang="en-US" altLang="zh-CN" sz="1800" dirty="0" err="1">
                <a:sym typeface="+mn-ea"/>
              </a:rPr>
              <a:t>mario</a:t>
            </a:r>
            <a:r>
              <a:rPr lang="zh-CN" altLang="en-US" sz="1800" dirty="0">
                <a:sym typeface="+mn-ea"/>
              </a:rPr>
              <a:t>：</a:t>
            </a:r>
            <a:r>
              <a:rPr lang="en-US" altLang="zh-CN" sz="1800" dirty="0">
                <a:sym typeface="+mn-ea"/>
              </a:rPr>
              <a:t>Absorbing abilities from homologous models as a free lunch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ym typeface="+mn-ea"/>
              </a:rPr>
              <a:t>8. OneRec-v2: Quantized Inference for OneRec-V2</a:t>
            </a:r>
            <a:endParaRPr lang="zh-CN" altLang="en-US" sz="1800" dirty="0">
              <a:sym typeface="+mn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A10EC5-940C-819E-08F7-860325D7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156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30684-721F-F905-86BD-6ABDAED5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06DCA-4C2A-725D-86D8-5A23802D5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536" y="247092"/>
            <a:ext cx="7790656" cy="490066"/>
          </a:xfrm>
        </p:spPr>
        <p:txBody>
          <a:bodyPr/>
          <a:lstStyle/>
          <a:p>
            <a:r>
              <a:rPr lang="en-US" altLang="zh-CN" b="1" dirty="0">
                <a:sym typeface="+mn-ea"/>
              </a:rPr>
              <a:t>Skills</a:t>
            </a:r>
            <a:r>
              <a:rPr lang="zh-CN" altLang="en-US" b="1" dirty="0">
                <a:sym typeface="+mn-ea"/>
              </a:rPr>
              <a:t>优化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EE217-CCD5-16E4-D931-C4DA19427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55" y="1297305"/>
            <a:ext cx="10262235" cy="505968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论文列表：</a:t>
            </a:r>
            <a:endParaRPr lang="en-US" altLang="zh-CN" sz="2800" dirty="0"/>
          </a:p>
          <a:p>
            <a:r>
              <a:rPr lang="zh-CN" altLang="en-US" sz="2000" dirty="0">
                <a:sym typeface="+mn-ea"/>
              </a:rPr>
              <a:t>必读：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Guo Z, Qi D, Gu H, et al. SKILL-DISCO: Distilling and Compiling Agent Traces into Reusable Procedural Skills[J]. arXiv preprint arXiv:2606.26669, 2026. 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 X, Zang Y, Cao Y, et al. Skill-as-Pseudocode: Refactoring Skill Libraries to Pseudocode for LLM Agents[J]. arXiv preprint arXiv:2605.27955, 2026. </a:t>
            </a:r>
            <a:endParaRPr lang="en-US" altLang="zh-CN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Chen, Erhu Feng, Yubin Xia,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Haibo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Chen. Skill VM: Write Once, Run Everywhere Efficiently. Proceedings of the 32nd ACM Symposium on Operating Systems Principles (SOSP'26). September, 2026.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 T, Hu L, Sun Y, et al. Grasp: Graph-structured skill compositions for llm agents[J]. arXiv preprint arXiv:2604.17870, 2026.</a:t>
            </a:r>
            <a:endParaRPr lang="en-US" altLang="zh-CN" sz="1400" dirty="0">
              <a:sym typeface="+mn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12A64A-A051-C7AF-5929-4053B574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902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54C5A-D6CC-2C1B-00C0-47F97244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5E47D-B686-E3CF-190B-DF92F0F0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536" y="247092"/>
            <a:ext cx="7790656" cy="490066"/>
          </a:xfrm>
        </p:spPr>
        <p:txBody>
          <a:bodyPr/>
          <a:lstStyle/>
          <a:p>
            <a:r>
              <a:rPr lang="en-US" altLang="zh-CN" b="1" dirty="0">
                <a:sym typeface="+mn-ea"/>
              </a:rPr>
              <a:t>GUI</a:t>
            </a:r>
            <a:r>
              <a:rPr lang="zh-CN" altLang="en-US" b="1" dirty="0">
                <a:sym typeface="+mn-ea"/>
              </a:rPr>
              <a:t> </a:t>
            </a:r>
            <a:r>
              <a:rPr lang="en-US" altLang="zh-CN" b="1" dirty="0">
                <a:sym typeface="+mn-ea"/>
              </a:rPr>
              <a:t>agent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8C5AC-9026-4621-034B-E50FC11F9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55" y="1297305"/>
            <a:ext cx="10262235" cy="505968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论文列表：</a:t>
            </a:r>
            <a:endParaRPr lang="en-US" altLang="zh-CN" sz="2800" dirty="0"/>
          </a:p>
          <a:p>
            <a:r>
              <a:rPr lang="zh-CN" altLang="en-US" sz="2000" dirty="0">
                <a:sym typeface="+mn-ea"/>
              </a:rPr>
              <a:t>必读：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Qin, </a:t>
            </a:r>
            <a:r>
              <a:rPr lang="en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Yujia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"Ui-tars: Pioneering automated </a:t>
            </a:r>
            <a:r>
              <a:rPr lang="en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 with native agents." </a:t>
            </a:r>
            <a:r>
              <a:rPr lang="en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arXiv:2501.12326 (2025). 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Xie, </a:t>
            </a:r>
            <a:r>
              <a:rPr lang="en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Tianbao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</a:t>
            </a:r>
            <a:r>
              <a:rPr lang="en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Osworld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Benchmarking multimodal agents for open-ended tasks in real computer environments." Advances in Neural Information Processing Systems 37 (2024): 52040-52094. 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Deng, Xiang, et al. "Mind2web: Towards a generalist agent for the web." Advances in Neural Information Processing Systems 36 (2023): 28091-28114. 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Bowen, et al. "Cua-gym: Scaling verifiable training environments and tasks for computer-use agents." </a:t>
            </a:r>
            <a:r>
              <a:rPr lang="en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arXiv:2605.25624 (2026).</a:t>
            </a:r>
            <a:endParaRPr lang="en-US" altLang="zh-CN" sz="1400" dirty="0">
              <a:sym typeface="+mn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002F5C-1CB6-DBE5-66FE-6A8E3E4E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149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A034-F375-D0A2-D643-42817BE1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1F63E5B-EF47-91CE-0352-235DFF301440}"/>
              </a:ext>
            </a:extLst>
          </p:cNvPr>
          <p:cNvCxnSpPr/>
          <p:nvPr/>
        </p:nvCxnSpPr>
        <p:spPr>
          <a:xfrm>
            <a:off x="1103635" y="728691"/>
            <a:ext cx="10738786" cy="0"/>
          </a:xfrm>
          <a:prstGeom prst="line">
            <a:avLst/>
          </a:prstGeom>
          <a:ln w="28575" cmpd="sng">
            <a:solidFill>
              <a:srgbClr val="6A01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25">
            <a:extLst>
              <a:ext uri="{FF2B5EF4-FFF2-40B4-BE49-F238E27FC236}">
                <a16:creationId xmlns:a16="http://schemas.microsoft.com/office/drawing/2014/main" id="{D6C9DC18-4C9A-1BBB-3710-8A6090277697}"/>
              </a:ext>
            </a:extLst>
          </p:cNvPr>
          <p:cNvSpPr txBox="1"/>
          <p:nvPr/>
        </p:nvSpPr>
        <p:spPr>
          <a:xfrm>
            <a:off x="1081048" y="250591"/>
            <a:ext cx="434285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400" b="1" spc="300" dirty="0">
                <a:solidFill>
                  <a:srgbClr val="6A01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系统实践</a:t>
            </a:r>
            <a:r>
              <a:rPr lang="en-US" altLang="zh-CN" sz="2400" b="1" spc="300" dirty="0">
                <a:solidFill>
                  <a:srgbClr val="6A01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spc="300" dirty="0" err="1">
                <a:solidFill>
                  <a:srgbClr val="6A01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zh-CN" altLang="en-US" sz="2400" b="1" spc="300" dirty="0">
                <a:solidFill>
                  <a:srgbClr val="6A01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特性性能</a:t>
            </a:r>
            <a:endParaRPr lang="en-US" altLang="zh-CN" sz="2400" b="1" spc="300" dirty="0">
              <a:solidFill>
                <a:srgbClr val="6A01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4" descr="https://ss1.bdstatic.com/70cFuXSh_Q1YnxGkpoWK1HF6hhy/it/u=895424434,4021804793&amp;fm=27&amp;gp=0.jpg">
            <a:extLst>
              <a:ext uri="{FF2B5EF4-FFF2-40B4-BE49-F238E27FC236}">
                <a16:creationId xmlns:a16="http://schemas.microsoft.com/office/drawing/2014/main" id="{7394F168-627E-2F04-E16B-EF71752B5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71" b="97927" l="1200" r="97600">
                        <a14:foregroundMark x1="25000" y1="57416" x2="44800" y2="80223"/>
                        <a14:foregroundMark x1="44800" y1="80223" x2="65200" y2="62679"/>
                        <a14:foregroundMark x1="65200" y1="62679" x2="69000" y2="43062"/>
                        <a14:foregroundMark x1="69000" y1="43062" x2="65800" y2="25997"/>
                        <a14:foregroundMark x1="65800" y1="25997" x2="46600" y2="17703"/>
                        <a14:foregroundMark x1="46600" y1="17703" x2="45600" y2="17703"/>
                        <a14:foregroundMark x1="42800" y1="20415" x2="32600" y2="35247"/>
                        <a14:foregroundMark x1="32600" y1="35247" x2="41400" y2="57257"/>
                        <a14:foregroundMark x1="41400" y1="57257" x2="59200" y2="48485"/>
                        <a14:foregroundMark x1="59200" y1="48485" x2="68200" y2="34769"/>
                        <a14:foregroundMark x1="68200" y1="36683" x2="1200" y2="24242"/>
                        <a14:foregroundMark x1="1600" y1="46093" x2="23600" y2="76715"/>
                        <a14:foregroundMark x1="23600" y1="76715" x2="42800" y2="88517"/>
                        <a14:foregroundMark x1="42800" y1="88517" x2="62400" y2="80542"/>
                        <a14:foregroundMark x1="62400" y1="80542" x2="87200" y2="28389"/>
                        <a14:foregroundMark x1="87200" y1="28389" x2="68400" y2="20734"/>
                        <a14:foregroundMark x1="68400" y1="20734" x2="24600" y2="18979"/>
                        <a14:foregroundMark x1="24600" y1="18979" x2="3200" y2="51515"/>
                        <a14:foregroundMark x1="40400" y1="62520" x2="77200" y2="53429"/>
                        <a14:foregroundMark x1="77200" y1="53429" x2="50400" y2="35726"/>
                        <a14:foregroundMark x1="50400" y1="35726" x2="69000" y2="24880"/>
                        <a14:foregroundMark x1="69000" y1="24880" x2="39400" y2="37640"/>
                        <a14:foregroundMark x1="39400" y1="37640" x2="33000" y2="28070"/>
                        <a14:foregroundMark x1="42400" y1="64434" x2="31400" y2="47209"/>
                        <a14:foregroundMark x1="31400" y1="47209" x2="43400" y2="32855"/>
                        <a14:foregroundMark x1="43400" y1="32855" x2="64400" y2="29506"/>
                        <a14:foregroundMark x1="64400" y1="29506" x2="50800" y2="43222"/>
                        <a14:foregroundMark x1="50800" y1="43222" x2="24200" y2="41627"/>
                        <a14:foregroundMark x1="24200" y1="41627" x2="34800" y2="19936"/>
                        <a14:foregroundMark x1="34800" y1="19936" x2="38200" y2="18660"/>
                        <a14:foregroundMark x1="43200" y1="47687" x2="37400" y2="29825"/>
                        <a14:foregroundMark x1="37400" y1="29825" x2="58400" y2="38278"/>
                        <a14:foregroundMark x1="58400" y1="38278" x2="37200" y2="45136"/>
                        <a14:foregroundMark x1="37200" y1="45136" x2="43000" y2="28070"/>
                        <a14:foregroundMark x1="43000" y1="28070" x2="44800" y2="27751"/>
                        <a14:foregroundMark x1="23400" y1="15789" x2="78000" y2="11643"/>
                        <a14:foregroundMark x1="78000" y1="11643" x2="85200" y2="11643"/>
                        <a14:foregroundMark x1="48400" y1="2711" x2="70200" y2="8134"/>
                        <a14:foregroundMark x1="70200" y1="8134" x2="91800" y2="6380"/>
                        <a14:foregroundMark x1="91800" y1="6380" x2="94400" y2="4944"/>
                        <a14:foregroundMark x1="94800" y1="8772" x2="90800" y2="44338"/>
                        <a14:foregroundMark x1="90800" y1="44338" x2="70400" y2="78947"/>
                        <a14:foregroundMark x1="70400" y1="78947" x2="60800" y2="84370"/>
                        <a14:foregroundMark x1="86800" y1="66667" x2="73400" y2="80702"/>
                        <a14:foregroundMark x1="73400" y1="80702" x2="56000" y2="90431"/>
                        <a14:foregroundMark x1="56000" y1="90431" x2="40000" y2="91388"/>
                        <a14:foregroundMark x1="49600" y1="97927" x2="86000" y2="78947"/>
                        <a14:foregroundMark x1="3200" y1="4306" x2="25800" y2="8453"/>
                        <a14:foregroundMark x1="25800" y1="8453" x2="46200" y2="4625"/>
                        <a14:foregroundMark x1="46200" y1="4625" x2="50000" y2="3030"/>
                        <a14:foregroundMark x1="51200" y1="3030" x2="73000" y2="10686"/>
                        <a14:foregroundMark x1="73000" y1="10686" x2="93200" y2="6858"/>
                        <a14:foregroundMark x1="97600" y1="3349" x2="77400" y2="8134"/>
                        <a14:foregroundMark x1="77400" y1="8134" x2="70600" y2="65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20" y="151341"/>
            <a:ext cx="677359" cy="8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74FB30ED-741E-D36D-119F-1190E374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F913581-D1B7-49AE-B4FA-4BED2472C56F}" type="datetime1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14" name="灯片编号占位符 4">
            <a:extLst>
              <a:ext uri="{FF2B5EF4-FFF2-40B4-BE49-F238E27FC236}">
                <a16:creationId xmlns:a16="http://schemas.microsoft.com/office/drawing/2014/main" id="{76D9AA3B-72BF-E0C6-1F00-C387FB38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349E73-67D4-BD99-3D72-DE3D46596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378705"/>
            <a:ext cx="5562600" cy="185420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3006805-9921-48E1-D120-E751C11D0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48031"/>
              </p:ext>
            </p:extLst>
          </p:nvPr>
        </p:nvGraphicFramePr>
        <p:xfrm>
          <a:off x="800100" y="3512008"/>
          <a:ext cx="5418666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8257360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42665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7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前缀缓存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-enable-prefix-caching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33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分块</a:t>
                      </a:r>
                      <a:r>
                        <a:rPr lang="en-US" altLang="zh-CN" dirty="0"/>
                        <a:t>prefill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--enable-chunked-prefill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321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并行度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--max-num-seqs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939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投机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--speculative-config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06943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624E64B-65D2-CF3A-6A82-102B2CC14DC7}"/>
              </a:ext>
            </a:extLst>
          </p:cNvPr>
          <p:cNvSpPr txBox="1"/>
          <p:nvPr/>
        </p:nvSpPr>
        <p:spPr>
          <a:xfrm>
            <a:off x="893879" y="5479295"/>
            <a:ext cx="4605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观测指标：</a:t>
            </a:r>
            <a:r>
              <a:rPr kumimoji="1" lang="en-US" altLang="zh-CN" sz="2400" dirty="0"/>
              <a:t>TTFT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TPOT</a:t>
            </a:r>
            <a:r>
              <a:rPr kumimoji="1" lang="zh-CN" altLang="en-US" sz="2400" dirty="0"/>
              <a:t>、吞吐量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B29DD9-22D3-B642-D53B-D6B5329D7787}"/>
              </a:ext>
            </a:extLst>
          </p:cNvPr>
          <p:cNvSpPr txBox="1"/>
          <p:nvPr/>
        </p:nvSpPr>
        <p:spPr>
          <a:xfrm>
            <a:off x="7193279" y="2305615"/>
            <a:ext cx="358785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1" dirty="0"/>
              <a:t>特性这些是必做的，其余特性可以在</a:t>
            </a:r>
            <a:r>
              <a:rPr kumimoji="1" lang="en-US" altLang="zh-CN" sz="1600" b="1" dirty="0" err="1"/>
              <a:t>vllm</a:t>
            </a:r>
            <a:r>
              <a:rPr kumimoji="1" lang="zh-CN" altLang="en-US" sz="1600" b="1" dirty="0"/>
              <a:t>官方文档查看，感兴趣自行进行</a:t>
            </a:r>
            <a:endParaRPr kumimoji="1" lang="en-US" altLang="zh-CN" sz="1600" b="1" dirty="0"/>
          </a:p>
          <a:p>
            <a:endParaRPr kumimoji="1" lang="en-US" altLang="zh-CN" sz="1600" b="1" dirty="0"/>
          </a:p>
          <a:p>
            <a:r>
              <a:rPr kumimoji="1" lang="zh-CN" altLang="en-US" sz="1600" b="1" dirty="0"/>
              <a:t>汇报：</a:t>
            </a:r>
            <a:endParaRPr kumimoji="1" lang="en-US" altLang="zh-CN" sz="1600" b="1" dirty="0"/>
          </a:p>
          <a:p>
            <a:r>
              <a:rPr kumimoji="1" lang="en-US" altLang="zh-CN" sz="1600" b="1" dirty="0"/>
              <a:t>1</a:t>
            </a:r>
            <a:r>
              <a:rPr kumimoji="1" lang="zh-CN" altLang="en-US" sz="1600" b="1" dirty="0"/>
              <a:t>、环境配置：用的什么卡？ </a:t>
            </a:r>
            <a:r>
              <a:rPr kumimoji="1" lang="en-US" altLang="zh-CN" sz="1600" b="1" dirty="0" err="1"/>
              <a:t>Vllm</a:t>
            </a:r>
            <a:r>
              <a:rPr kumimoji="1" lang="zh-CN" altLang="en-US" sz="1600" b="1" dirty="0"/>
              <a:t>版本是多少？</a:t>
            </a:r>
            <a:endParaRPr kumimoji="1" lang="en-US" altLang="zh-CN" sz="1600" b="1" dirty="0"/>
          </a:p>
          <a:p>
            <a:r>
              <a:rPr kumimoji="1" lang="en-US" altLang="zh-CN" sz="1600" b="1" dirty="0"/>
              <a:t>2</a:t>
            </a:r>
            <a:r>
              <a:rPr kumimoji="1" lang="zh-CN" altLang="en-US" sz="1600" b="1" dirty="0"/>
              <a:t>、实验是如何设计的？基线是什么？ 数据集选的什么？  </a:t>
            </a:r>
            <a:endParaRPr kumimoji="1" lang="en-US" altLang="zh-CN" sz="1600" b="1" dirty="0"/>
          </a:p>
          <a:p>
            <a:r>
              <a:rPr kumimoji="1" lang="en-US" altLang="zh-CN" sz="1600" b="1" dirty="0"/>
              <a:t>2</a:t>
            </a:r>
            <a:r>
              <a:rPr kumimoji="1" lang="zh-CN" altLang="en-US" sz="1600" b="1" dirty="0"/>
              <a:t>、特性与指标之间是什么关系，哪些特性影响哪些指标？</a:t>
            </a:r>
          </a:p>
        </p:txBody>
      </p:sp>
    </p:spTree>
    <p:extLst>
      <p:ext uri="{BB962C8B-B14F-4D97-AF65-F5344CB8AC3E}">
        <p14:creationId xmlns:p14="http://schemas.microsoft.com/office/powerpoint/2010/main" val="58080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D125-ED3E-F1F9-D5DB-D792F65DE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C80BBC2-0871-6654-C36E-94A41BE9CDD4}"/>
              </a:ext>
            </a:extLst>
          </p:cNvPr>
          <p:cNvCxnSpPr/>
          <p:nvPr/>
        </p:nvCxnSpPr>
        <p:spPr>
          <a:xfrm>
            <a:off x="1103635" y="728691"/>
            <a:ext cx="10738786" cy="0"/>
          </a:xfrm>
          <a:prstGeom prst="line">
            <a:avLst/>
          </a:prstGeom>
          <a:ln w="28575" cmpd="sng">
            <a:solidFill>
              <a:srgbClr val="6A01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25">
            <a:extLst>
              <a:ext uri="{FF2B5EF4-FFF2-40B4-BE49-F238E27FC236}">
                <a16:creationId xmlns:a16="http://schemas.microsoft.com/office/drawing/2014/main" id="{26D49BB6-1506-4934-F2A8-6CB7C1722FE3}"/>
              </a:ext>
            </a:extLst>
          </p:cNvPr>
          <p:cNvSpPr txBox="1"/>
          <p:nvPr/>
        </p:nvSpPr>
        <p:spPr>
          <a:xfrm>
            <a:off x="1081048" y="250591"/>
            <a:ext cx="374814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400" b="1" spc="300" dirty="0">
                <a:solidFill>
                  <a:srgbClr val="6A01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系统实践</a:t>
            </a:r>
            <a:r>
              <a:rPr lang="en-US" altLang="zh-CN" sz="2400" b="1" spc="300" dirty="0">
                <a:solidFill>
                  <a:srgbClr val="6A01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agent</a:t>
            </a:r>
            <a:r>
              <a:rPr lang="zh-CN" altLang="en-US" sz="2400" b="1" spc="300" dirty="0">
                <a:solidFill>
                  <a:srgbClr val="6A01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en-US" altLang="zh-CN" sz="2400" b="1" spc="300" dirty="0">
              <a:solidFill>
                <a:srgbClr val="6A01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4" descr="https://ss1.bdstatic.com/70cFuXSh_Q1YnxGkpoWK1HF6hhy/it/u=895424434,4021804793&amp;fm=27&amp;gp=0.jpg">
            <a:extLst>
              <a:ext uri="{FF2B5EF4-FFF2-40B4-BE49-F238E27FC236}">
                <a16:creationId xmlns:a16="http://schemas.microsoft.com/office/drawing/2014/main" id="{7FF6FBFB-1A25-F040-B37C-AC74AD78A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71" b="97927" l="1200" r="97600">
                        <a14:foregroundMark x1="25000" y1="57416" x2="44800" y2="80223"/>
                        <a14:foregroundMark x1="44800" y1="80223" x2="65200" y2="62679"/>
                        <a14:foregroundMark x1="65200" y1="62679" x2="69000" y2="43062"/>
                        <a14:foregroundMark x1="69000" y1="43062" x2="65800" y2="25997"/>
                        <a14:foregroundMark x1="65800" y1="25997" x2="46600" y2="17703"/>
                        <a14:foregroundMark x1="46600" y1="17703" x2="45600" y2="17703"/>
                        <a14:foregroundMark x1="42800" y1="20415" x2="32600" y2="35247"/>
                        <a14:foregroundMark x1="32600" y1="35247" x2="41400" y2="57257"/>
                        <a14:foregroundMark x1="41400" y1="57257" x2="59200" y2="48485"/>
                        <a14:foregroundMark x1="59200" y1="48485" x2="68200" y2="34769"/>
                        <a14:foregroundMark x1="68200" y1="36683" x2="1200" y2="24242"/>
                        <a14:foregroundMark x1="1600" y1="46093" x2="23600" y2="76715"/>
                        <a14:foregroundMark x1="23600" y1="76715" x2="42800" y2="88517"/>
                        <a14:foregroundMark x1="42800" y1="88517" x2="62400" y2="80542"/>
                        <a14:foregroundMark x1="62400" y1="80542" x2="87200" y2="28389"/>
                        <a14:foregroundMark x1="87200" y1="28389" x2="68400" y2="20734"/>
                        <a14:foregroundMark x1="68400" y1="20734" x2="24600" y2="18979"/>
                        <a14:foregroundMark x1="24600" y1="18979" x2="3200" y2="51515"/>
                        <a14:foregroundMark x1="40400" y1="62520" x2="77200" y2="53429"/>
                        <a14:foregroundMark x1="77200" y1="53429" x2="50400" y2="35726"/>
                        <a14:foregroundMark x1="50400" y1="35726" x2="69000" y2="24880"/>
                        <a14:foregroundMark x1="69000" y1="24880" x2="39400" y2="37640"/>
                        <a14:foregroundMark x1="39400" y1="37640" x2="33000" y2="28070"/>
                        <a14:foregroundMark x1="42400" y1="64434" x2="31400" y2="47209"/>
                        <a14:foregroundMark x1="31400" y1="47209" x2="43400" y2="32855"/>
                        <a14:foregroundMark x1="43400" y1="32855" x2="64400" y2="29506"/>
                        <a14:foregroundMark x1="64400" y1="29506" x2="50800" y2="43222"/>
                        <a14:foregroundMark x1="50800" y1="43222" x2="24200" y2="41627"/>
                        <a14:foregroundMark x1="24200" y1="41627" x2="34800" y2="19936"/>
                        <a14:foregroundMark x1="34800" y1="19936" x2="38200" y2="18660"/>
                        <a14:foregroundMark x1="43200" y1="47687" x2="37400" y2="29825"/>
                        <a14:foregroundMark x1="37400" y1="29825" x2="58400" y2="38278"/>
                        <a14:foregroundMark x1="58400" y1="38278" x2="37200" y2="45136"/>
                        <a14:foregroundMark x1="37200" y1="45136" x2="43000" y2="28070"/>
                        <a14:foregroundMark x1="43000" y1="28070" x2="44800" y2="27751"/>
                        <a14:foregroundMark x1="23400" y1="15789" x2="78000" y2="11643"/>
                        <a14:foregroundMark x1="78000" y1="11643" x2="85200" y2="11643"/>
                        <a14:foregroundMark x1="48400" y1="2711" x2="70200" y2="8134"/>
                        <a14:foregroundMark x1="70200" y1="8134" x2="91800" y2="6380"/>
                        <a14:foregroundMark x1="91800" y1="6380" x2="94400" y2="4944"/>
                        <a14:foregroundMark x1="94800" y1="8772" x2="90800" y2="44338"/>
                        <a14:foregroundMark x1="90800" y1="44338" x2="70400" y2="78947"/>
                        <a14:foregroundMark x1="70400" y1="78947" x2="60800" y2="84370"/>
                        <a14:foregroundMark x1="86800" y1="66667" x2="73400" y2="80702"/>
                        <a14:foregroundMark x1="73400" y1="80702" x2="56000" y2="90431"/>
                        <a14:foregroundMark x1="56000" y1="90431" x2="40000" y2="91388"/>
                        <a14:foregroundMark x1="49600" y1="97927" x2="86000" y2="78947"/>
                        <a14:foregroundMark x1="3200" y1="4306" x2="25800" y2="8453"/>
                        <a14:foregroundMark x1="25800" y1="8453" x2="46200" y2="4625"/>
                        <a14:foregroundMark x1="46200" y1="4625" x2="50000" y2="3030"/>
                        <a14:foregroundMark x1="51200" y1="3030" x2="73000" y2="10686"/>
                        <a14:foregroundMark x1="73000" y1="10686" x2="93200" y2="6858"/>
                        <a14:foregroundMark x1="97600" y1="3349" x2="77400" y2="8134"/>
                        <a14:foregroundMark x1="77400" y1="8134" x2="70600" y2="65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20" y="151341"/>
            <a:ext cx="677359" cy="8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502500F4-6B49-D703-8CF9-79AC5D31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F913581-D1B7-49AE-B4FA-4BED2472C56F}" type="datetime1">
              <a:rPr lang="zh-CN" altLang="en-US" smtClean="0"/>
              <a:t>2026/7/16</a:t>
            </a:fld>
            <a:endParaRPr lang="zh-CN" altLang="en-US" dirty="0"/>
          </a:p>
        </p:txBody>
      </p:sp>
      <p:sp>
        <p:nvSpPr>
          <p:cNvPr id="14" name="灯片编号占位符 4">
            <a:extLst>
              <a:ext uri="{FF2B5EF4-FFF2-40B4-BE49-F238E27FC236}">
                <a16:creationId xmlns:a16="http://schemas.microsoft.com/office/drawing/2014/main" id="{278C21FA-0B7B-47EF-BF01-4C177F0E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5C2F44-8BBF-7C4F-EDC5-7984A0E98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99" y="1750970"/>
            <a:ext cx="7772400" cy="11834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14ACC7-93AF-99C1-013B-DF54ACD94093}"/>
              </a:ext>
            </a:extLst>
          </p:cNvPr>
          <p:cNvSpPr txBox="1"/>
          <p:nvPr/>
        </p:nvSpPr>
        <p:spPr>
          <a:xfrm>
            <a:off x="1147482" y="3854824"/>
            <a:ext cx="9599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部署</a:t>
            </a:r>
            <a:r>
              <a:rPr kumimoji="1" lang="en-US" altLang="zh-CN" sz="2800" dirty="0"/>
              <a:t>nanobot</a:t>
            </a:r>
            <a:r>
              <a:rPr kumimoji="1" lang="zh-CN" altLang="en-US" sz="2800" dirty="0"/>
              <a:t>并基于</a:t>
            </a:r>
            <a:r>
              <a:rPr kumimoji="1" lang="en-US" altLang="zh-CN" sz="2800" dirty="0"/>
              <a:t>MCP</a:t>
            </a:r>
            <a:r>
              <a:rPr kumimoji="1" lang="zh-CN" altLang="en-US" sz="2800" dirty="0"/>
              <a:t>添加一个工具、添加一个</a:t>
            </a:r>
            <a:r>
              <a:rPr kumimoji="1" lang="en-US" altLang="zh-CN" sz="2800" dirty="0"/>
              <a:t>skill</a:t>
            </a:r>
            <a:r>
              <a:rPr kumimoji="1" lang="zh-CN" altLang="en-US" sz="2800" dirty="0"/>
              <a:t>工作流</a:t>
            </a:r>
            <a:endParaRPr kumimoji="1"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535152881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775</Words>
  <Application>Microsoft Macintosh PowerPoint</Application>
  <DocSecurity>0</DocSecurity>
  <PresentationFormat>宽屏</PresentationFormat>
  <Paragraphs>73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微软雅黑</vt:lpstr>
      <vt:lpstr>Times New Roman</vt:lpstr>
      <vt:lpstr>自定义设计方案</vt:lpstr>
      <vt:lpstr>南京大学计算机学院暑期科研实践 大模型推理优化方向</vt:lpstr>
      <vt:lpstr>投机推理</vt:lpstr>
      <vt:lpstr>多芯调度</vt:lpstr>
      <vt:lpstr>Skills优化</vt:lpstr>
      <vt:lpstr>GUI agent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chris lee</cp:lastModifiedBy>
  <cp:revision>4</cp:revision>
  <dcterms:created xsi:type="dcterms:W3CDTF">2026-07-15T10:01:24Z</dcterms:created>
  <dcterms:modified xsi:type="dcterms:W3CDTF">2026-07-16T06:14:38Z</dcterms:modified>
</cp:coreProperties>
</file>